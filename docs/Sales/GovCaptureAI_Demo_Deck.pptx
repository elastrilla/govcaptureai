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300ec1a9b747e3" /><Relationship Type="http://schemas.openxmlformats.org/officeDocument/2006/relationships/extended-properties" Target="/docProps/app.xml" Id="R6f401afc4e4844b6" /><Relationship Type="http://schemas.openxmlformats.org/officeDocument/2006/relationships/officeDocument" Target="/ppt/presentation.xml" Id="R49a1b1971681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6e3d3b0bb94331"/>
  </p:sldMasterIdLst>
  <p:notesMasterIdLst>
    <p:notesMasterId xmlns:r="http://schemas.openxmlformats.org/officeDocument/2006/relationships" r:id="Ra69e25bd1fa74920"/>
  </p:notesMasterIdLst>
  <p:sldIdLst>
    <p:sldId xmlns:r="http://schemas.openxmlformats.org/officeDocument/2006/relationships" id="256" r:id="Rf7d7213f2d5341fd"/>
    <p:sldId xmlns:r="http://schemas.openxmlformats.org/officeDocument/2006/relationships" id="257" r:id="R9313c2c335a546fe"/>
    <p:sldId xmlns:r="http://schemas.openxmlformats.org/officeDocument/2006/relationships" id="258" r:id="R8ffb317df1c542ff"/>
    <p:sldId xmlns:r="http://schemas.openxmlformats.org/officeDocument/2006/relationships" id="259" r:id="Rdd81a38dd19c48e5"/>
    <p:sldId xmlns:r="http://schemas.openxmlformats.org/officeDocument/2006/relationships" id="260" r:id="R6c34794dc6eb4f63"/>
    <p:sldId xmlns:r="http://schemas.openxmlformats.org/officeDocument/2006/relationships" id="261" r:id="Rce79437351ee4fdc"/>
    <p:sldId xmlns:r="http://schemas.openxmlformats.org/officeDocument/2006/relationships" id="262" r:id="Ra2ff193bde334f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a06f1401c49a4" /><Relationship Type="http://schemas.openxmlformats.org/officeDocument/2006/relationships/slideMaster" Target="/ppt/slideMasters/slideMaster1.xml" Id="R4c6e3d3b0bb94331" /><Relationship Type="http://schemas.openxmlformats.org/officeDocument/2006/relationships/notesMaster" Target="/ppt/notesMasters/notesMaster1.xml" Id="Ra69e25bd1fa74920" /><Relationship Type="http://schemas.openxmlformats.org/officeDocument/2006/relationships/presProps" Target="/ppt/presProps.xml" Id="R768c3103357a44cf" /><Relationship Type="http://schemas.openxmlformats.org/officeDocument/2006/relationships/tableStyles" Target="/ppt/tableStyles.xml" Id="Ra4c7d496269a4cbb" /><Relationship Type="http://schemas.openxmlformats.org/officeDocument/2006/relationships/slide" Target="/ppt/slides/slide1.xml" Id="Rf7d7213f2d5341fd" /><Relationship Type="http://schemas.openxmlformats.org/officeDocument/2006/relationships/slide" Target="/ppt/slides/slide2.xml" Id="R9313c2c335a546fe" /><Relationship Type="http://schemas.openxmlformats.org/officeDocument/2006/relationships/slide" Target="/ppt/slides/slide3.xml" Id="R8ffb317df1c542ff" /><Relationship Type="http://schemas.openxmlformats.org/officeDocument/2006/relationships/slide" Target="/ppt/slides/slide4.xml" Id="Rdd81a38dd19c48e5" /><Relationship Type="http://schemas.openxmlformats.org/officeDocument/2006/relationships/slide" Target="/ppt/slides/slide5.xml" Id="R6c34794dc6eb4f63" /><Relationship Type="http://schemas.openxmlformats.org/officeDocument/2006/relationships/slide" Target="/ppt/slides/slide6.xml" Id="Rce79437351ee4fdc" /><Relationship Type="http://schemas.openxmlformats.org/officeDocument/2006/relationships/slide" Target="/ppt/slides/slide7.xml" Id="Ra2ff193bde334f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5ab672c41644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bf7ddeed50425c" /><Relationship Type="http://schemas.openxmlformats.org/officeDocument/2006/relationships/notesMaster" Target="/ppt/notesMasters/notesMaster1.xml" Id="R96b1ba4a3a1f4d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8f4c84eaf74c53" /><Relationship Type="http://schemas.openxmlformats.org/officeDocument/2006/relationships/notesMaster" Target="/ppt/notesMasters/notesMaster1.xml" Id="R2d244c75171b4a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7c1f887e25474b" /><Relationship Type="http://schemas.openxmlformats.org/officeDocument/2006/relationships/notesMaster" Target="/ppt/notesMasters/notesMaster1.xml" Id="R069eb31618cf48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7a7249b84c4c0f" /><Relationship Type="http://schemas.openxmlformats.org/officeDocument/2006/relationships/notesMaster" Target="/ppt/notesMasters/notesMaster1.xml" Id="Rada867cf4dc2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62e1500d5c4d5d" /><Relationship Type="http://schemas.openxmlformats.org/officeDocument/2006/relationships/notesMaster" Target="/ppt/notesMasters/notesMaster1.xml" Id="Rcfd68955502344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bae19aab7447ca" /><Relationship Type="http://schemas.openxmlformats.org/officeDocument/2006/relationships/notesMaster" Target="/ppt/notesMasters/notesMaster1.xml" Id="Re76c1aa359da4d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a1ca7701494773" /><Relationship Type="http://schemas.openxmlformats.org/officeDocument/2006/relationships/notesMaster" Target="/ppt/notesMasters/notesMaster1.xml" Id="R65b88ca994774f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Sprint 13B buyer feedback: start with actual SAM.gov search, show short opportunity summaries, then move into qualification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Scoring explanation: the GovCaptureAI Fit Score is internal bid/no-bid decision support. It is based on company profile, NAICS, agency fit, set-aside eligibility, capability overlap, past performance, and evidence. It is not random and not a government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Sprint 13B buyer feedback: start with actual SAM.gov search, show short opportunity summaries, then move into qualification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48be7abce4c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f6f85da0524b67" /><Relationship Type="http://schemas.openxmlformats.org/officeDocument/2006/relationships/slideLayout" Target="/ppt/slideLayouts/slideLayout1.xml" Id="Refad2be40ba642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ad2be40ba642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7ee0238ac4e0f" /><Relationship Type="http://schemas.openxmlformats.org/officeDocument/2006/relationships/notesSlide" Target="/ppt/notesSlides/notesSlide1.xml" Id="Rec78b4da72d74b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0bd81286c489f" /><Relationship Type="http://schemas.openxmlformats.org/officeDocument/2006/relationships/notesSlide" Target="/ppt/notesSlides/notesSlide2.xml" Id="Rcc0acb089fc244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1fcab544d428b" /><Relationship Type="http://schemas.openxmlformats.org/officeDocument/2006/relationships/notesSlide" Target="/ppt/notesSlides/notesSlide3.xml" Id="R24c87a53aa534a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48a0e171a4652" /><Relationship Type="http://schemas.openxmlformats.org/officeDocument/2006/relationships/notesSlide" Target="/ppt/notesSlides/notesSlide4.xml" Id="R8aa9f1631edd49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bfdde307944b2" /><Relationship Type="http://schemas.openxmlformats.org/officeDocument/2006/relationships/notesSlide" Target="/ppt/notesSlides/notesSlide5.xml" Id="Rd126b50c13614e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2489bd3804700" /><Relationship Type="http://schemas.openxmlformats.org/officeDocument/2006/relationships/notesSlide" Target="/ppt/notesSlides/notesSlide6.xml" Id="Ree49d0b4cf1c46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cde0659974b35" /><Relationship Type="http://schemas.openxmlformats.org/officeDocument/2006/relationships/notesSlide" Target="/ppt/notesSlides/notesSlide7.xml" Id="Ra04d4ef96e874c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B05AC-2B42-443E-A2C8-8B0467A0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2B23"/>
                </a:solidFill>
              </a:defRPr>
            </a:pPr>
            <a:r>
              <a:rPr sz="2025" b="1">
                <a:solidFill>
                  <a:srgbClr val="0F2B23"/>
                </a:solidFill>
              </a:rPr>
              <a:t>GovCaptureAI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E31DE-FD40-4C3F-8974-068F4E58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800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A15"/>
                </a:solidFill>
              </a:defRPr>
            </a:pPr>
            <a:r>
              <a:rPr sz="4350" b="1">
                <a:solidFill>
                  <a:srgbClr val="111A15"/>
                </a:solidFill>
              </a:rPr>
              <a:t>Turn opportunity data into capture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316F6-D012-43BE-8291-16267521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95700"/>
            <a:ext cx="628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B64"/>
                </a:solidFill>
              </a:defRPr>
            </a:pPr>
            <a:r>
              <a:rPr sz="1800" b="0">
                <a:solidFill>
                  <a:srgbClr val="5F6B64"/>
                </a:solidFill>
              </a:rPr>
              <a:t>An AI-assisted workspace for contractors to discover relevant opportunities, qualify fit, manage bid/no-bid workflow, and generate proposal-ready drafts.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DD596-CEDD-4759-94BF-5A3F3BD0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42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A993C-7D00-4CE8-8F1F-4442B9E6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B64"/>
                </a:solidFill>
              </a:defRPr>
            </a:pPr>
            <a:r>
              <a:rPr sz="1350" b="1">
                <a:solidFill>
                  <a:srgbClr val="5F6B64"/>
                </a:solidFill>
              </a:rPr>
              <a:t>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AA263-F139-4A3E-8D80-E71698F6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CCA7B-D260-4B31-8128-064325B9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B64"/>
                </a:solidFill>
              </a:defRPr>
            </a:pPr>
            <a:r>
              <a:rPr sz="1350" b="1">
                <a:solidFill>
                  <a:srgbClr val="5F6B64"/>
                </a:solidFill>
              </a:rPr>
              <a:t>QUALIFY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23E28-95E6-4999-8193-8EB263E1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2CAD7-7A04-4714-974B-4FC8DB31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B64"/>
                </a:solidFill>
              </a:defRPr>
            </a:pPr>
            <a:r>
              <a:rPr sz="1350" b="1">
                <a:solidFill>
                  <a:srgbClr val="5F6B64"/>
                </a:solidFill>
              </a:rPr>
              <a:t>MANAGE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9D7B0-5E0A-4CFE-84E5-899FACFC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D622F-4387-4E59-8ABB-299AA932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B64"/>
                </a:solidFill>
              </a:defRPr>
            </a:pPr>
            <a:r>
              <a:rPr sz="1350" b="1">
                <a:solidFill>
                  <a:srgbClr val="5F6B64"/>
                </a:solidFill>
              </a:rPr>
              <a:t>RESPOND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8D941-95DD-44DB-BF4C-147DCE5D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022B9-0B26-426F-99D1-38101603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B64"/>
                </a:solidFill>
              </a:defRPr>
            </a:pPr>
            <a:r>
              <a:rPr sz="1350" b="1">
                <a:solidFill>
                  <a:srgbClr val="5F6B64"/>
                </a:solidFill>
              </a:rPr>
              <a:t>Client demo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A8FC6-D144-4AD1-A307-534D01EE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GovCaptureAI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34DAC-6F7E-4728-B808-4FC60F05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0839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3C69E-D4D8-4CA9-B69C-4D4D9A82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B64"/>
                </a:solidFill>
              </a:defRPr>
            </a:pPr>
            <a:r>
              <a:rPr sz="1125" b="1">
                <a:solidFill>
                  <a:srgbClr val="5F6B64"/>
                </a:solidFill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5F870-3133-4E6C-8487-C1D2507E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A15"/>
                </a:solidFill>
              </a:defRPr>
            </a:pPr>
            <a:r>
              <a:rPr sz="3225" b="1">
                <a:solidFill>
                  <a:srgbClr val="111A15"/>
                </a:solidFill>
              </a:rPr>
              <a:t>Small contractors lose momentum before the proposal starts.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FD582-EF8E-4A9B-AB3B-D6A361BF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CE"/>
          </a:solidFill>
          <a:ln xmlns:a="http://schemas.openxmlformats.org/drawingml/2006/main" w="0">
            <a:solidFill>
              <a:srgbClr val="C9D4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70F53-3C13-4969-8E97-87884037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5A659-8F0A-4740-892C-6395AC96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A15"/>
                </a:solidFill>
              </a:defRPr>
            </a:pPr>
            <a:r>
              <a:rPr sz="2100" b="1">
                <a:solidFill>
                  <a:srgbClr val="111A15"/>
                </a:solidFill>
              </a:rPr>
              <a:t>Too many opportunities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36C5D-A6A2-4CD3-AC13-7FCDF821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64"/>
                </a:solidFill>
              </a:defRPr>
            </a:pPr>
            <a:r>
              <a:rPr sz="1425" b="0">
                <a:solidFill>
                  <a:srgbClr val="5F6B64"/>
                </a:solidFill>
              </a:rPr>
              <a:t>Search results pile up faster than teams can read, triage, and explain.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2B254-BAE7-4392-A364-DE274F36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9525">
            <a:solidFill>
              <a:srgbClr val="0F2B2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5FA07-6688-4882-8135-8C29DD25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Bid/no-bid is inconsistent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3B267-C603-4ED5-81BF-184C573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099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BEEE3"/>
                </a:solidFill>
              </a:defRPr>
            </a:pPr>
            <a:r>
              <a:rPr sz="1425" b="0">
                <a:solidFill>
                  <a:srgbClr val="DBEEE3"/>
                </a:solidFill>
              </a:rPr>
              <a:t>Decisions depend on gut feel when company fit, evidence, and risk are scattered.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DAA67-4DF5-4199-B40A-D1993CC2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F15CB-5065-4D5D-8295-A9195356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A15"/>
                </a:solidFill>
              </a:defRPr>
            </a:pPr>
            <a:r>
              <a:rPr sz="2100" b="1">
                <a:solidFill>
                  <a:srgbClr val="111A15"/>
                </a:solidFill>
              </a:rPr>
              <a:t>Proposal drafting starts cold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8BC35-54FD-4371-B955-BAC2ABA4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099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64"/>
                </a:solidFill>
              </a:defRPr>
            </a:pPr>
            <a:r>
              <a:rPr sz="1425" b="0">
                <a:solidFill>
                  <a:srgbClr val="5F6B64"/>
                </a:solidFill>
              </a:rPr>
              <a:t>Teams begin from blank pages because capture context is not connected to response content.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4D5A7-E996-4678-A0A2-D3F25B63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15"/>
                </a:solidFill>
              </a:defRPr>
            </a:pPr>
            <a:r>
              <a:rPr sz="2025" b="1">
                <a:solidFill>
                  <a:srgbClr val="111A15"/>
                </a:solidFill>
              </a:rPr>
              <a:t>The real bottleneck is not finding opportunities. It is deciding which ones deserve pursuit.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E2CE9-2DA2-4240-9949-B1CDFF50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GovCaptureAI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C0A4F-2FCD-4C01-AEB0-FF2D1581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5620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5AF57-0842-4943-9097-F8EBD369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B64"/>
                </a:solidFill>
              </a:defRPr>
            </a:pPr>
            <a:r>
              <a:rPr sz="1125" b="1">
                <a:solidFill>
                  <a:srgbClr val="5F6B64"/>
                </a:solidFill>
              </a:rPr>
              <a:t>PRODUCT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579F2-D7B3-46FD-BD5C-19E687DB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A15"/>
                </a:solidFill>
              </a:defRPr>
            </a:pPr>
            <a:r>
              <a:rPr sz="3225" b="1">
                <a:solidFill>
                  <a:srgbClr val="111A15"/>
                </a:solidFill>
              </a:rPr>
              <a:t>GovCaptureAI starts with SAM.gov, then guides capture.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D328C-1ADE-4EC5-9D73-8D4FB169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CE"/>
          </a:solidFill>
          <a:ln xmlns:a="http://schemas.openxmlformats.org/drawingml/2006/main" w="0">
            <a:solidFill>
              <a:srgbClr val="C9D4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3286B-DB56-4787-9AC6-19E0486F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08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CE"/>
          </a:solidFill>
          <a:ln xmlns:a="http://schemas.openxmlformats.org/drawingml/2006/main" w="0">
            <a:solidFill>
              <a:srgbClr val="C9D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E107B-F458-4742-AF47-9421BBE8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A15"/>
                </a:solidFill>
              </a:defRPr>
            </a:pPr>
            <a:r>
              <a:rPr sz="3900" b="1">
                <a:solidFill>
                  <a:srgbClr val="111A1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CDB85-0A08-4AD1-8E67-B37C3A6E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D5EE9-01FE-4CE1-88BD-8D9AF4DB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15"/>
                </a:solidFill>
              </a:defRPr>
            </a:pPr>
            <a:r>
              <a:rPr sz="2025" b="1">
                <a:solidFill>
                  <a:srgbClr val="111A15"/>
                </a:solidFill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F6A7D-A4CC-47FC-AA31-2766F12D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64"/>
                </a:solidFill>
              </a:defRPr>
            </a:pPr>
            <a:r>
              <a:rPr sz="1350" b="0">
                <a:solidFill>
                  <a:srgbClr val="5F6B64"/>
                </a:solidFill>
              </a:rPr>
              <a:t>Search SAM.gov, preview summaries, and save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7C6F5-4D1A-4A6B-AB82-72E339BD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A15"/>
                </a:solidFill>
              </a:defRPr>
            </a:pPr>
            <a:r>
              <a:rPr sz="3900" b="1">
                <a:solidFill>
                  <a:srgbClr val="111A1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80706-4A61-437B-AEE8-1A3D41A4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E3BB9-B0A5-47FC-B23B-CEB356E6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15"/>
                </a:solidFill>
              </a:defRPr>
            </a:pPr>
            <a:r>
              <a:rPr sz="2025" b="1">
                <a:solidFill>
                  <a:srgbClr val="111A15"/>
                </a:solidFill>
              </a:rPr>
              <a:t>Qualify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A5AE6-BD0E-405A-9447-ABCE48D0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2430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64"/>
                </a:solidFill>
              </a:defRPr>
            </a:pPr>
            <a:r>
              <a:rPr sz="1350" b="0">
                <a:solidFill>
                  <a:srgbClr val="5F6B64"/>
                </a:solidFill>
              </a:rPr>
              <a:t>Score fit using company profile, evidence, and opportunity details.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34230-3A81-4806-B439-752DEBC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A15"/>
                </a:solidFill>
              </a:defRPr>
            </a:pPr>
            <a:r>
              <a:rPr sz="3900" b="1">
                <a:solidFill>
                  <a:srgbClr val="111A1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89C85-25EF-477E-B177-4B9001E9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86DDF-176C-4B72-A745-F593E3F1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15"/>
                </a:solidFill>
              </a:defRPr>
            </a:pPr>
            <a:r>
              <a:rPr sz="2025" b="1">
                <a:solidFill>
                  <a:srgbClr val="111A15"/>
                </a:solidFill>
              </a:rPr>
              <a:t>Manage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CA6C8-5A4E-497B-B5C3-D35463A4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64"/>
                </a:solidFill>
              </a:defRPr>
            </a:pPr>
            <a:r>
              <a:rPr sz="1350" b="0">
                <a:solidFill>
                  <a:srgbClr val="5F6B64"/>
                </a:solidFill>
              </a:rPr>
              <a:t>Track review status, recommendation, and bid/no-bid rationale.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6A894-C3F3-4618-ABD3-7852A5C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68B684"/>
                </a:solidFill>
              </a:defRPr>
            </a:pPr>
            <a:r>
              <a:rPr sz="3900" b="1">
                <a:solidFill>
                  <a:srgbClr val="68B684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6E94F-A21D-453B-9193-795FC050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9525">
            <a:solidFill>
              <a:srgbClr val="0F2B2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CEF4D-4831-47B0-9EF0-76E53FA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Respond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126AB-1F8A-4DEC-989E-72C2D869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2430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BEEE3"/>
                </a:solidFill>
              </a:defRPr>
            </a:pPr>
            <a:r>
              <a:rPr sz="1350" b="0">
                <a:solidFill>
                  <a:srgbClr val="DBEEE3"/>
                </a:solidFill>
              </a:rPr>
              <a:t>Generate, review, and export a proposal draft.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B96FC-2B7B-446D-873A-2A5279E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15"/>
                </a:solidFill>
              </a:defRPr>
            </a:pPr>
            <a:r>
              <a:rPr sz="1875" b="1">
                <a:solidFill>
                  <a:srgbClr val="111A15"/>
                </a:solidFill>
              </a:rPr>
              <a:t>Search is the entry point; capture decisions are the value.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F37958-B111-446A-BCB0-4A2398B5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GovCaptureAI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5B1B5-06E9-4CEA-9920-73DB2020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3782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C70B0-D385-442C-A2F5-7FA74465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B64"/>
                </a:solidFill>
              </a:defRPr>
            </a:pPr>
            <a:r>
              <a:rPr sz="1125" b="1">
                <a:solidFill>
                  <a:srgbClr val="5F6B64"/>
                </a:solidFill>
              </a:rPr>
              <a:t>QUALIFICATION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EF17A-A200-47CA-9CFB-08BE69A4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A15"/>
                </a:solidFill>
              </a:defRPr>
            </a:pPr>
            <a:r>
              <a:rPr sz="3225" b="1">
                <a:solidFill>
                  <a:srgbClr val="111A15"/>
                </a:solidFill>
              </a:rPr>
              <a:t>The GovCaptureAI Fit Score gives teams a structured first read.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4C68E-B8EE-4BAD-8ED3-1B59A329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CE"/>
          </a:solidFill>
          <a:ln xmlns:a="http://schemas.openxmlformats.org/drawingml/2006/main" w="0">
            <a:solidFill>
              <a:srgbClr val="C9D4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D600F-C67D-4356-ACE9-50474B0A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9D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2DFA7-51B6-46BB-AEFC-CEFD4E1B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A15"/>
                </a:solidFill>
              </a:defRPr>
            </a:pPr>
            <a:r>
              <a:rPr sz="2100" b="1">
                <a:solidFill>
                  <a:srgbClr val="111A15"/>
                </a:solidFill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0FC46-002A-46D1-B2B0-B578B8F9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69ECA-A3EC-4970-8E66-1EAF839A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A15"/>
                </a:solidFill>
              </a:defRPr>
            </a:pPr>
            <a:r>
              <a:rPr sz="1425" b="0">
                <a:solidFill>
                  <a:srgbClr val="111A15"/>
                </a:solidFill>
              </a:rPr>
              <a:t>Opportunity fields, summary, and description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B2864-B3AF-44AD-8653-7F40A84B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86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A227C-16F6-4B84-A737-ED9E1258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0450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A15"/>
                </a:solidFill>
              </a:defRPr>
            </a:pPr>
            <a:r>
              <a:rPr sz="1425" b="0">
                <a:solidFill>
                  <a:srgbClr val="111A15"/>
                </a:solidFill>
              </a:rPr>
              <a:t>Notice type, agency, NAICS, set-aside, 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196DC-F7C3-44D2-B85B-66EBD5D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1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D126B-6FA6-4DFE-918C-2A2239FC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A15"/>
                </a:solidFill>
              </a:defRPr>
            </a:pPr>
            <a:r>
              <a:rPr sz="1425" b="0">
                <a:solidFill>
                  <a:srgbClr val="111A15"/>
                </a:solidFill>
              </a:rPr>
              <a:t>Company capabilities and certifications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06BBC-169E-4A5F-99DD-B517F1BE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9E0F7-A3A1-493F-BDAB-B5D772DA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A15"/>
                </a:solidFill>
              </a:defRPr>
            </a:pPr>
            <a:r>
              <a:rPr sz="1425" b="0">
                <a:solidFill>
                  <a:srgbClr val="111A15"/>
                </a:solidFill>
              </a:rPr>
              <a:t>Past performance and document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C176F-0CF2-4339-99F1-75216EDE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9525">
            <a:solidFill>
              <a:srgbClr val="0F2B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29156-FB3B-4959-BAC6-223075B1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0557C-43C2-49DA-8B34-06E525A3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68B684"/>
                </a:solidFill>
              </a:defRPr>
            </a:pPr>
            <a:r>
              <a:rPr sz="4500" b="1">
                <a:solidFill>
                  <a:srgbClr val="68B684"/>
                </a:solidFill>
              </a:rPr>
              <a:t>10 / 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1128A-0A83-424A-B71B-7EAFA326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Internal fit recommendation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A6A4E-FEF2-4784-A105-A30339A3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BEEE3"/>
                </a:solidFill>
              </a:defRPr>
            </a:pPr>
            <a:r>
              <a:rPr sz="1500" b="0">
                <a:solidFill>
                  <a:srgbClr val="DBEEE3"/>
                </a:solidFill>
              </a:rPr>
              <a:t>Not random or government-provided. Human review stays in control.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0935F-27DB-445E-8A60-3428DFB3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GovCaptureAI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C9177-D71D-4690-8E6F-0BA2C6B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86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4656-267F-4081-82A5-EC84737E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B64"/>
                </a:solidFill>
              </a:defRPr>
            </a:pPr>
            <a:r>
              <a:rPr sz="1125" b="1">
                <a:solidFill>
                  <a:srgbClr val="5F6B64"/>
                </a:solidFill>
              </a:rPr>
              <a:t>PROPOSAL MOMENTUM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EC22F-6526-4F48-B606-6B79673B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A15"/>
                </a:solidFill>
              </a:defRPr>
            </a:pPr>
            <a:r>
              <a:rPr sz="3225" b="1">
                <a:solidFill>
                  <a:srgbClr val="111A15"/>
                </a:solidFill>
              </a:rPr>
              <a:t>A qualified opportunity can become a reviewable draft.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C8F27-070A-406E-9569-5F25631C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CE"/>
          </a:solidFill>
          <a:ln xmlns:a="http://schemas.openxmlformats.org/drawingml/2006/main" w="0">
            <a:solidFill>
              <a:srgbClr val="C9D4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5288D-549A-4571-B33D-DBF45DCE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C05D0-D268-4176-ADB8-5C94E1D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A15"/>
                </a:solidFill>
              </a:defRPr>
            </a:pPr>
            <a:r>
              <a:rPr sz="2250" b="1">
                <a:solidFill>
                  <a:srgbClr val="111A15"/>
                </a:solidFill>
              </a:rPr>
              <a:t>Draft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EBD9C-51E7-49AB-A70D-41A4FA25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3905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A15"/>
                </a:solidFill>
              </a:defRPr>
            </a:pPr>
            <a:r>
              <a:rPr sz="1650" b="0">
                <a:solidFill>
                  <a:srgbClr val="111A15"/>
                </a:solidFill>
              </a:rPr>
              <a:t>Executive Summary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A15"/>
                </a:solidFill>
              </a:defRPr>
            </a:pPr>
            <a:r>
              <a:rPr sz="1650" b="0">
                <a:solidFill>
                  <a:srgbClr val="111A15"/>
                </a:solidFill>
              </a:rPr>
              <a:t>Understanding of the Requirement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A15"/>
                </a:solidFill>
              </a:defRPr>
            </a:pPr>
            <a:r>
              <a:rPr sz="1650" b="0">
                <a:solidFill>
                  <a:srgbClr val="111A15"/>
                </a:solidFill>
              </a:rPr>
              <a:t>Technical Approach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A15"/>
                </a:solidFill>
              </a:defRPr>
            </a:pPr>
            <a:r>
              <a:rPr sz="1650" b="0">
                <a:solidFill>
                  <a:srgbClr val="111A15"/>
                </a:solidFill>
              </a:rPr>
              <a:t>Management Approach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A15"/>
                </a:solidFill>
              </a:defRPr>
            </a:pPr>
            <a:r>
              <a:rPr sz="1650" b="0">
                <a:solidFill>
                  <a:srgbClr val="111A15"/>
                </a:solidFill>
              </a:rPr>
              <a:t>Past Performance and Evidence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A15"/>
                </a:solidFill>
              </a:defRPr>
            </a:pPr>
            <a:r>
              <a:rPr sz="1650" b="0">
                <a:solidFill>
                  <a:srgbClr val="111A15"/>
                </a:solidFill>
              </a:rPr>
              <a:t>Compliance Notes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A15"/>
                </a:solidFill>
              </a:defRPr>
            </a:pPr>
            <a:r>
              <a:rPr sz="1650" b="0">
                <a:solidFill>
                  <a:srgbClr val="111A15"/>
                </a:solidFill>
              </a:rPr>
              <a:t>Review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CF9D6-F942-4D1E-BDB1-FCD9BED8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476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9D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8DA83-9E7B-4793-9E43-7B33774F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A15"/>
                </a:solidFill>
              </a:defRPr>
            </a:pPr>
            <a:r>
              <a:rPr sz="2250" b="1">
                <a:solidFill>
                  <a:srgbClr val="111A15"/>
                </a:solidFill>
              </a:rPr>
              <a:t>Review and export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0A810-4398-468E-95B5-3AAD735A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1A7D6-AAD2-4472-8E6D-FC79EE7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575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A15"/>
                </a:solidFill>
              </a:defRPr>
            </a:pPr>
            <a:r>
              <a:rPr sz="1425" b="0">
                <a:solidFill>
                  <a:srgbClr val="111A15"/>
                </a:solidFill>
              </a:rPr>
              <a:t>Save review status and readiness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98D98-3696-4FD5-B375-D090C40C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14A36-1668-4BE6-AF69-D624BE3B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A15"/>
                </a:solidFill>
              </a:defRPr>
            </a:pPr>
            <a:r>
              <a:rPr sz="1425" b="0">
                <a:solidFill>
                  <a:srgbClr val="111A15"/>
                </a:solidFill>
              </a:rPr>
              <a:t>Capture notes and unresolved gaps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18BF4-063D-446D-8850-A04F7D92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17655-C70F-47AC-9DA0-B6E1A60E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A15"/>
                </a:solidFill>
              </a:defRPr>
            </a:pPr>
            <a:r>
              <a:rPr sz="1425" b="0">
                <a:solidFill>
                  <a:srgbClr val="111A15"/>
                </a:solidFill>
              </a:rPr>
              <a:t>Download a text export for Word or Google Docs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16849-E90F-458D-818D-FB6550A3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14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0">
            <a:solidFill>
              <a:srgbClr val="0F2B2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EE47A-3134-4D06-BC19-47C7E529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291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A15"/>
                </a:solidFill>
              </a:defRPr>
            </a:pPr>
            <a:r>
              <a:rPr sz="1425" b="0">
                <a:solidFill>
                  <a:srgbClr val="111A15"/>
                </a:solidFill>
              </a:rPr>
              <a:t>Keep humans in control before external 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FCD2C-BA77-446B-A1F8-C05FE673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GovCaptureAI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CAB95-E541-4F5D-A78A-3D18D534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6114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6462E-D6E0-4F8D-82D2-F90F9CD3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B64"/>
                </a:solidFill>
              </a:defRPr>
            </a:pPr>
            <a:r>
              <a:rPr sz="1125" b="1">
                <a:solidFill>
                  <a:srgbClr val="5F6B64"/>
                </a:solidFill>
              </a:rPr>
              <a:t>DEMO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6D448-8671-4CD6-897F-25FC4763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A15"/>
                </a:solidFill>
              </a:defRPr>
            </a:pPr>
            <a:r>
              <a:rPr sz="3225" b="1">
                <a:solidFill>
                  <a:srgbClr val="111A15"/>
                </a:solidFill>
              </a:rPr>
              <a:t>The current proof of concept supports the full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9944A-5ECF-4A50-92E4-201DF1E7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CE"/>
          </a:solidFill>
          <a:ln xmlns:a="http://schemas.openxmlformats.org/drawingml/2006/main" w="0">
            <a:solidFill>
              <a:srgbClr val="C9D4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4029A-F7D6-47DB-B5E0-8B28414A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095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26C2D-4722-4C60-9685-20747D08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15"/>
                </a:solidFill>
              </a:defRPr>
            </a:pPr>
            <a:r>
              <a:rPr sz="1800" b="1">
                <a:solidFill>
                  <a:srgbClr val="111A15"/>
                </a:solidFill>
              </a:rPr>
              <a:t>Live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84E20-B241-415D-9BE6-C39F620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64"/>
                </a:solidFill>
              </a:defRPr>
            </a:pPr>
            <a:r>
              <a:rPr sz="1275" b="0">
                <a:solidFill>
                  <a:srgbClr val="5F6B64"/>
                </a:solidFill>
              </a:rPr>
              <a:t>FastAPI backend and Swagger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32C0E-37B3-434B-97CB-59ADC030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3095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48338-BD7D-4620-BCD4-8A04E680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00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15"/>
                </a:solidFill>
              </a:defRPr>
            </a:pPr>
            <a:r>
              <a:rPr sz="1800" b="1">
                <a:solidFill>
                  <a:srgbClr val="111A15"/>
                </a:solidFill>
              </a:rPr>
              <a:t>Data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FEFC9-3949-4853-911A-D5ACB40C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64"/>
                </a:solidFill>
              </a:defRPr>
            </a:pPr>
            <a:r>
              <a:rPr sz="1275" b="0">
                <a:solidFill>
                  <a:srgbClr val="5F6B64"/>
                </a:solidFill>
              </a:rPr>
              <a:t>PostgreSQL records and Alembic migrations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1CF10-51A7-437B-81AC-73455180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3095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D08EE-3BA6-4A36-BDD2-85EDBFC1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15"/>
                </a:solidFill>
              </a:defRPr>
            </a:pPr>
            <a:r>
              <a:rPr sz="1800" b="1">
                <a:solidFill>
                  <a:srgbClr val="111A15"/>
                </a:solidFill>
              </a:rPr>
              <a:t>Opportunity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991D9-B9FC-485E-976A-A11CE695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64"/>
                </a:solidFill>
              </a:defRPr>
            </a:pPr>
            <a:r>
              <a:rPr sz="1275" b="0">
                <a:solidFill>
                  <a:srgbClr val="5F6B64"/>
                </a:solidFill>
              </a:rPr>
              <a:t>Search-first dashboard with summaries and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51B04-5E28-47D3-9C21-5CD2057D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095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9BB45-CADE-49A4-B16F-3BE2CA44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15"/>
                </a:solidFill>
              </a:defRPr>
            </a:pPr>
            <a:r>
              <a:rPr sz="1800" b="1">
                <a:solidFill>
                  <a:srgbClr val="111A15"/>
                </a:solidFill>
              </a:rPr>
              <a:t>Company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AC521-C7DB-414F-87AA-7944CF5D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64"/>
                </a:solidFill>
              </a:defRPr>
            </a:pPr>
            <a:r>
              <a:rPr sz="1275" b="0">
                <a:solidFill>
                  <a:srgbClr val="5F6B64"/>
                </a:solidFill>
              </a:rPr>
              <a:t>Profile and document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A9D69-44B8-4A95-85DA-FBAF0EFC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095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9525">
            <a:solidFill>
              <a:srgbClr val="0F2B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E5F68-5D2C-40D0-818B-4A6D3A5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AI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B0B82-20CF-4749-AB87-6353C60E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BEEE3"/>
                </a:solidFill>
              </a:defRPr>
            </a:pPr>
            <a:r>
              <a:rPr sz="1275" b="0">
                <a:solidFill>
                  <a:srgbClr val="DBEEE3"/>
                </a:solidFill>
              </a:rPr>
              <a:t>Fit score, rationale, summaries, and draft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FB793-13E0-4010-9D1E-F7CEB341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3095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D88D1-2BE2-4830-9C4F-C3678916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15"/>
                </a:solidFill>
              </a:defRPr>
            </a:pPr>
            <a:r>
              <a:rPr sz="1800" b="1">
                <a:solidFill>
                  <a:srgbClr val="111A15"/>
                </a:solidFill>
              </a:rPr>
              <a:t>Portable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659C5-61F8-4047-AD6F-3197459B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64"/>
                </a:solidFill>
              </a:defRPr>
            </a:pPr>
            <a:r>
              <a:rPr sz="1275" b="0">
                <a:solidFill>
                  <a:srgbClr val="5F6B64"/>
                </a:solidFill>
              </a:rPr>
              <a:t>Docker and Raspberry Pi runbook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6D5D1-9C37-4328-9407-30E7308E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GovCaptureAI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8426F-B518-4C41-BDBA-1FD9EE84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1019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FF11B-6826-46E4-A561-A2642A4D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B64"/>
                </a:solidFill>
              </a:defRPr>
            </a:pPr>
            <a:r>
              <a:rPr sz="1125" b="1">
                <a:solidFill>
                  <a:srgbClr val="5F6B64"/>
                </a:solidFill>
              </a:rPr>
              <a:t>PILOT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FA020-0B53-4A27-B2DB-42D12A1E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A15"/>
                </a:solidFill>
              </a:defRPr>
            </a:pPr>
            <a:r>
              <a:rPr sz="3225" b="1">
                <a:solidFill>
                  <a:srgbClr val="111A15"/>
                </a:solidFill>
              </a:rPr>
              <a:t>A focused pilot can prove value quickly.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382C1-F0DB-43BB-A0FF-53831DDB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CE"/>
          </a:solidFill>
          <a:ln xmlns:a="http://schemas.openxmlformats.org/drawingml/2006/main" w="0">
            <a:solidFill>
              <a:srgbClr val="C9D4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C3CAE-E04F-4CC0-B351-22473D49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3"/>
          </a:solidFill>
          <a:ln xmlns:a="http://schemas.openxmlformats.org/drawingml/2006/main" w="9525">
            <a:solidFill>
              <a:srgbClr val="0F2B2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129CF-B83F-4A66-90F5-D5AC3955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68B684"/>
                </a:solidFill>
              </a:defRPr>
            </a:pPr>
            <a:r>
              <a:rPr sz="4500" b="1">
                <a:solidFill>
                  <a:srgbClr val="68B684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F9A7A-53A6-4907-BC3F-0DD3690E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Company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63986-C0AC-4938-9813-410E30A3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BEEE3"/>
                </a:solidFill>
              </a:defRPr>
            </a:pPr>
            <a:r>
              <a:rPr sz="1275" b="0">
                <a:solidFill>
                  <a:srgbClr val="DBEEE3"/>
                </a:solidFill>
              </a:rPr>
              <a:t>Load capabilities, certifications, target NAICS, and past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427BF-601E-4393-92B1-78FBB5EA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D1BC3-9117-43CA-97D2-D1810595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241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A15"/>
                </a:solidFill>
              </a:defRPr>
            </a:pPr>
            <a:r>
              <a:rPr sz="4500" b="1">
                <a:solidFill>
                  <a:srgbClr val="111A15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61579-85A9-4B42-B106-FE61A7A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337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A15"/>
                </a:solidFill>
              </a:defRPr>
            </a:pPr>
            <a:r>
              <a:rPr sz="2100" b="1">
                <a:solidFill>
                  <a:srgbClr val="111A15"/>
                </a:solidFill>
              </a:rPr>
              <a:t>Target opportunities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42CC7-41DE-47D9-83AA-A799E221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71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64"/>
                </a:solidFill>
              </a:defRPr>
            </a:pPr>
            <a:r>
              <a:rPr sz="1275" b="0">
                <a:solidFill>
                  <a:srgbClr val="5F6B64"/>
                </a:solidFill>
              </a:rPr>
              <a:t>Review 10 to 25 opportunities for one agency, market, or NAICS focus.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2A0E3-8321-4353-8A05-CB3FE66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EEF3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FA0B4-ACB8-49C5-B061-7EC09B46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241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A15"/>
                </a:solidFill>
              </a:defRPr>
            </a:pPr>
            <a:r>
              <a:rPr sz="4500" b="1">
                <a:solidFill>
                  <a:srgbClr val="111A1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F30B6-D7FD-4357-8D67-BD5AB701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A15"/>
                </a:solidFill>
              </a:defRPr>
            </a:pPr>
            <a:r>
              <a:rPr sz="2100" b="1">
                <a:solidFill>
                  <a:srgbClr val="111A15"/>
                </a:solidFill>
              </a:rPr>
              <a:t>Decision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C9AA3-9CA2-4098-8EFA-6A5BAFA9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64"/>
                </a:solidFill>
              </a:defRPr>
            </a:pPr>
            <a:r>
              <a:rPr sz="1275" b="0">
                <a:solidFill>
                  <a:srgbClr val="5F6B64"/>
                </a:solidFill>
              </a:rPr>
              <a:t>Measure review time, bid/no-bid confidence, and quality of the first draft.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B3349-EF70-44F1-9AC9-7CDC6357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9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A15"/>
                </a:solidFill>
              </a:defRPr>
            </a:pPr>
            <a:r>
              <a:rPr sz="1950" b="1">
                <a:solidFill>
                  <a:srgbClr val="111A15"/>
                </a:solidFill>
              </a:rPr>
              <a:t>Recommended next step: choose one target market and run a short pilot using real company inputs.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FA98B-CD98-4B6F-B47B-ED3CD102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GovCaptureAI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796AB-C8C8-48F3-8BAE-64E18A35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B64"/>
                </a:solidFill>
              </a:defRPr>
            </a:pPr>
            <a:r>
              <a:rPr sz="1050" b="1">
                <a:solidFill>
                  <a:srgbClr val="5F6B6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9965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2026-07-27T19:04:01.1070000Z</dcterms:created>
  <dcterms:modified xsi:type="dcterms:W3CDTF">2026-07-27T19:04:01.1070000Z</dcterms:modified>
</coreProperties>
</file>